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97" r:id="rId2"/>
    <p:sldId id="323" r:id="rId3"/>
    <p:sldId id="257" r:id="rId4"/>
    <p:sldId id="318" r:id="rId5"/>
    <p:sldId id="258" r:id="rId6"/>
    <p:sldId id="259" r:id="rId7"/>
    <p:sldId id="263" r:id="rId8"/>
    <p:sldId id="262" r:id="rId9"/>
    <p:sldId id="301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21" r:id="rId27"/>
    <p:sldId id="320" r:id="rId28"/>
    <p:sldId id="304" r:id="rId29"/>
    <p:sldId id="275" r:id="rId30"/>
    <p:sldId id="340" r:id="rId31"/>
    <p:sldId id="303" r:id="rId3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C454075-533D-424C-9B8B-059C856AF47F}">
          <p14:sldIdLst>
            <p14:sldId id="297"/>
            <p14:sldId id="323"/>
            <p14:sldId id="257"/>
            <p14:sldId id="318"/>
            <p14:sldId id="258"/>
            <p14:sldId id="259"/>
          </p14:sldIdLst>
        </p14:section>
        <p14:section name="Раздел без заголовка" id="{4C1A483A-305D-4F31-B426-7E92C970ED0E}">
          <p14:sldIdLst>
            <p14:sldId id="263"/>
            <p14:sldId id="262"/>
            <p14:sldId id="301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21"/>
            <p14:sldId id="320"/>
            <p14:sldId id="304"/>
            <p14:sldId id="275"/>
            <p14:sldId id="340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A1B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396" y="138"/>
      </p:cViewPr>
      <p:guideLst>
        <p:guide orient="horz" pos="2159"/>
        <p:guide pos="382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876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59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77B5E7-42B8-7C81-A2E0-2EFCAD75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715FDF-27CB-C01D-1AD9-8AE82C11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7FEEE6-3F41-A9C5-B705-F5B523E7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79DE-CD82-4538-A956-437005A0DBC8}" type="datetimeFigureOut">
              <a:rPr lang="ru-RU" smtClean="0"/>
              <a:t>26.05.2025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CBF389-16FB-4784-9A03-63A90DC2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EAC8D4-7857-E1BA-7CAF-97ECDF7E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60BBF-3A67-44C7-B213-EA983EE8B5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04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"/>
          <p:cNvSpPr txBox="1">
            <a:spLocks/>
          </p:cNvSpPr>
          <p:nvPr/>
        </p:nvSpPr>
        <p:spPr>
          <a:xfrm>
            <a:off x="6896714" y="4301565"/>
            <a:ext cx="4646620" cy="235509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Выполнил</a:t>
            </a:r>
            <a:r>
              <a:rPr lang="ru-RU" sz="1600" u="sng" dirty="0">
                <a:latin typeface="Times New Roman"/>
                <a:cs typeface="Times New Roman"/>
              </a:rPr>
              <a:t>: Шиндин Даниил Андреевич</a:t>
            </a:r>
            <a:endParaRPr lang="ru-RU" altLang="en-US" sz="1600" u="sng" dirty="0">
              <a:latin typeface="Times New Roman"/>
              <a:cs typeface="Times New Roman"/>
            </a:endParaRP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Обучающийся </a:t>
            </a:r>
            <a:r>
              <a:rPr lang="ru-RU" sz="1600" u="sng" dirty="0">
                <a:latin typeface="Times New Roman"/>
                <a:cs typeface="Times New Roman"/>
              </a:rPr>
              <a:t>3</a:t>
            </a:r>
            <a:r>
              <a:rPr lang="ru-RU" sz="1600" dirty="0">
                <a:latin typeface="Times New Roman"/>
                <a:cs typeface="Times New Roman"/>
              </a:rPr>
              <a:t> курса группы 22ИТ</a:t>
            </a:r>
            <a:r>
              <a:rPr lang="en-US" altLang="ru-RU" sz="1600" dirty="0">
                <a:latin typeface="Times New Roman"/>
                <a:cs typeface="Times New Roman"/>
              </a:rPr>
              <a:t>2</a:t>
            </a:r>
            <a:r>
              <a:rPr lang="ru-RU" altLang="ru-RU" sz="1600" dirty="0">
                <a:latin typeface="Times New Roman"/>
                <a:cs typeface="Times New Roman"/>
              </a:rPr>
              <a:t>4</a:t>
            </a:r>
            <a:endParaRPr lang="en-US" altLang="ru-RU" sz="1600" dirty="0">
              <a:latin typeface="Times New Roman"/>
              <a:cs typeface="Times New Roman"/>
            </a:endParaRP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По специальности </a:t>
            </a:r>
            <a:r>
              <a:rPr lang="en-US" altLang="ru-RU" sz="1600" dirty="0">
                <a:latin typeface="Times New Roman"/>
                <a:cs typeface="Times New Roman"/>
              </a:rPr>
              <a:t>02.07.09</a:t>
            </a:r>
            <a:r>
              <a:rPr lang="ru-RU" sz="1600" dirty="0">
                <a:latin typeface="Times New Roman"/>
                <a:cs typeface="Times New Roman"/>
              </a:rPr>
              <a:t> </a:t>
            </a:r>
            <a:r>
              <a:rPr lang="ru-RU" sz="1600" u="sng" dirty="0">
                <a:latin typeface="Times New Roman"/>
                <a:cs typeface="Times New Roman"/>
              </a:rPr>
              <a:t>«</a:t>
            </a:r>
            <a:r>
              <a:rPr lang="ru-RU" altLang="en-US" sz="1600" u="sng" dirty="0">
                <a:latin typeface="Times New Roman"/>
                <a:cs typeface="Times New Roman"/>
              </a:rPr>
              <a:t>Информационные системы и программирование</a:t>
            </a:r>
            <a:r>
              <a:rPr lang="ru-RU" sz="1600" u="sng" dirty="0">
                <a:latin typeface="Times New Roman"/>
                <a:cs typeface="Times New Roman"/>
              </a:rPr>
              <a:t>»</a:t>
            </a: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Очной формы обучения</a:t>
            </a: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Руководитель квалификационного проекта </a:t>
            </a:r>
          </a:p>
          <a:p>
            <a:pPr algn="r">
              <a:defRPr/>
            </a:pPr>
            <a:r>
              <a:rPr lang="ru-RU" sz="1600" dirty="0">
                <a:latin typeface="Times New Roman"/>
                <a:cs typeface="Times New Roman"/>
              </a:rPr>
              <a:t>Преподаватель </a:t>
            </a:r>
            <a:r>
              <a:rPr lang="ru-RU" altLang="en-US" sz="1600" dirty="0">
                <a:latin typeface="Times New Roman"/>
                <a:cs typeface="Times New Roman"/>
              </a:rPr>
              <a:t>Николаева Надежда Сергеевна</a:t>
            </a:r>
            <a:endParaRPr lang="ru-RU" sz="1600" u="sng" dirty="0">
              <a:latin typeface="Times New Roman"/>
              <a:cs typeface="Times New Roman"/>
            </a:endParaRPr>
          </a:p>
          <a:p>
            <a:pPr algn="r">
              <a:defRPr/>
            </a:pP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464234" y="321972"/>
            <a:ext cx="8534323" cy="284236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ru-RU" sz="1600" dirty="0">
              <a:latin typeface="Times New Roman"/>
              <a:cs typeface="Times New Roman"/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2309687" y="435756"/>
            <a:ext cx="7713939" cy="372412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800" b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Пензенской области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Государственное автономное профессиональной образовательное</a:t>
            </a:r>
            <a:endParaRPr lang="en-US" sz="1600" dirty="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 учреждение Пензенской области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 «Пензенский колледж информационных и промышленных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 технологий (ИТ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ru-RU" sz="1600" dirty="0">
                <a:latin typeface="Times New Roman"/>
                <a:cs typeface="Times New Roman"/>
              </a:rPr>
              <a:t>- колледж)»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Учебный комплекс информационных технологий</a:t>
            </a:r>
            <a:endParaRPr lang="en-US" sz="1600" dirty="0">
              <a:latin typeface="Times New Roman"/>
              <a:cs typeface="Times New Roman"/>
            </a:endParaRPr>
          </a:p>
          <a:p>
            <a:pPr algn="ctr">
              <a:defRPr/>
            </a:pPr>
            <a:endParaRPr lang="en-US" sz="1600" dirty="0">
              <a:latin typeface="Times New Roman"/>
              <a:cs typeface="Times New Roman"/>
            </a:endParaRPr>
          </a:p>
          <a:p>
            <a:pPr algn="ctr">
              <a:defRPr/>
            </a:pPr>
            <a:endParaRPr lang="ru-RU" sz="1600" dirty="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1800" b="1" dirty="0">
                <a:latin typeface="Times New Roman"/>
                <a:cs typeface="Times New Roman"/>
              </a:rPr>
              <a:t>КВАЛИФИКАЦИОННЫЙ ПРОЕКТ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по МДК 05.02</a:t>
            </a:r>
          </a:p>
          <a:p>
            <a:pPr algn="ctr">
              <a:defRPr/>
            </a:pPr>
            <a:r>
              <a:rPr lang="ru-RU" sz="1600" dirty="0">
                <a:latin typeface="Times New Roman"/>
                <a:cs typeface="Times New Roman"/>
              </a:rPr>
              <a:t>«Разработка кода информационных систем»</a:t>
            </a:r>
          </a:p>
          <a:p>
            <a:pPr algn="ctr">
              <a:defRPr/>
            </a:pPr>
            <a:r>
              <a:rPr lang="ru-RU" sz="1800" b="1" dirty="0">
                <a:latin typeface="Times New Roman"/>
                <a:cs typeface="Times New Roman"/>
              </a:rPr>
              <a:t>Тема: Разработка Веб-приложения «Магазин канцелярских товаров города X «</a:t>
            </a:r>
            <a:r>
              <a:rPr lang="ru-RU" sz="1800" b="1" dirty="0" err="1">
                <a:latin typeface="Times New Roman"/>
                <a:cs typeface="Times New Roman"/>
              </a:rPr>
              <a:t>PaperCraft</a:t>
            </a:r>
            <a:r>
              <a:rPr lang="ru-RU" sz="1800" b="1" dirty="0">
                <a:latin typeface="Times New Roman"/>
                <a:cs typeface="Times New Roman"/>
              </a:rPr>
              <a:t>»»</a:t>
            </a:r>
            <a:endParaRPr lang="ru-RU" sz="1600" dirty="0">
              <a:latin typeface="Times New Roman"/>
              <a:cs typeface="Times New Roman"/>
            </a:endParaRPr>
          </a:p>
          <a:p>
            <a:pPr algn="ctr">
              <a:defRPr/>
            </a:pPr>
            <a:endParaRPr lang="ru-RU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324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6A532-F45A-564B-2F9C-5B11EC3B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B98A6-ABE1-26F8-D256-E560A4E43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20" y="238125"/>
            <a:ext cx="10515600" cy="1325563"/>
          </a:xfrm>
        </p:spPr>
        <p:txBody>
          <a:bodyPr/>
          <a:lstStyle/>
          <a:p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Цели</a:t>
            </a:r>
          </a:p>
        </p:txBody>
      </p:sp>
      <p:sp>
        <p:nvSpPr>
          <p:cNvPr id="3" name="Замещающее содержимое 2">
            <a:extLst>
              <a:ext uri="{FF2B5EF4-FFF2-40B4-BE49-F238E27FC236}">
                <a16:creationId xmlns:a16="http://schemas.microsoft.com/office/drawing/2014/main" id="{AA1E9E3C-3197-E2DC-52A0-29E0EFAB9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Целью курсового проекта является разработка веб-приложения «Магазин канцелярских товаров города X «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PaperCraft</a:t>
            </a: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»».</a:t>
            </a:r>
          </a:p>
        </p:txBody>
      </p:sp>
    </p:spTree>
    <p:extLst>
      <p:ext uri="{BB962C8B-B14F-4D97-AF65-F5344CB8AC3E}">
        <p14:creationId xmlns:p14="http://schemas.microsoft.com/office/powerpoint/2010/main" val="3552988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8020" y="238125"/>
            <a:ext cx="10515600" cy="1325563"/>
          </a:xfrm>
        </p:spPr>
        <p:txBody>
          <a:bodyPr/>
          <a:lstStyle/>
          <a:p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Задачи 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Задачи:</a:t>
            </a:r>
          </a:p>
          <a:p>
            <a:pPr marL="457200" indent="-457200">
              <a:buFont typeface="Times New Roman" panose="02020603050405020304" pitchFamily="18" charset="0"/>
              <a:buChar char="―"/>
            </a:pP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проанализировать предметную область</a:t>
            </a:r>
            <a:r>
              <a:rPr lang="en-US" altLang="ru-RU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Times New Roman" panose="02020603050405020304" pitchFamily="18" charset="0"/>
              <a:buChar char="―"/>
            </a:pP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выполнить проектирование ИС</a:t>
            </a:r>
            <a:r>
              <a:rPr lang="en-US" altLang="ru-RU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Times New Roman" panose="02020603050405020304" pitchFamily="18" charset="0"/>
              <a:buChar char="―"/>
            </a:pP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выполнить разработку ИС</a:t>
            </a:r>
            <a:r>
              <a:rPr lang="en-US" altLang="ru-RU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;</a:t>
            </a:r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Times New Roman" panose="02020603050405020304" pitchFamily="18" charset="0"/>
              <a:buChar char="―"/>
            </a:pPr>
            <a:r>
              <a:rPr lang="ru-RU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выполнить тестирование ИС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ru-RU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D9C82-067D-2B26-4F41-E1FBC7902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427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3FAA87-4575-AC16-03BC-C27A3A444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427" y="975303"/>
            <a:ext cx="10515600" cy="549345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популярности товаров для творчества и саморазвития. Канцелярские товары, предназначенные для рисования, письма и планирования, активно используются не только школьниками и студентами, но и взрослыми, стремящимися к творческому развитию и организации рабочего пространства.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и доступность онлайн-покупок канцелярии. Веб-приложения и интернет-магазины позволяют приобретать необходимые канцелярские принадлежности в любое время и из любой точки города X, предоставляя покупателям комфортный способ выбора и заказа товаров.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современных технологий для персонализации покупок. Применение алгоритмов анализа данных в онлайн-магазине 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PaperCraft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позволяет адаптировать ассортимент и рекомендации под индивидуальные предпочтения и потребности покупателей, повышая их удовлетворённость и лояльность.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187756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Функциональные и нефункциональные требования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91770" y="1427540"/>
            <a:ext cx="6110176" cy="5278060"/>
          </a:xfrm>
        </p:spPr>
        <p:txBody>
          <a:bodyPr>
            <a:noAutofit/>
          </a:bodyPr>
          <a:lstStyle/>
          <a:p>
            <a:pPr indent="448056">
              <a:lnSpc>
                <a:spcPct val="160000"/>
              </a:lnSpc>
              <a:spcBef>
                <a:spcPts val="0"/>
              </a:spcBef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Функциональные требования к информационной системе «Магазин канцелярских товаров города X «</a:t>
            </a:r>
            <a:r>
              <a:rPr lang="ru-RU" altLang="en-US" sz="21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PaperCraft</a:t>
            </a: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»»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регистрация;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авторизация;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просмотр каталога товаров;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оформление и отслеживание заказов;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просмотр результатов;</a:t>
            </a:r>
            <a:endParaRPr lang="ru-RU" altLang="en-US" sz="21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просмотр истории покупок;</a:t>
            </a:r>
          </a:p>
          <a:p>
            <a:pPr marL="342900" indent="448056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—"/>
            </a:pPr>
            <a:r>
              <a:rPr lang="ru-RU" altLang="en-US" sz="21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личный кабинет.</a:t>
            </a: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905500" y="1427540"/>
            <a:ext cx="6318758" cy="536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8056" algn="l">
              <a:lnSpc>
                <a:spcPct val="150000"/>
              </a:lnSpc>
              <a:spcAft>
                <a:spcPts val="0"/>
              </a:spcAft>
              <a:buClrTx/>
              <a:buSzTx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Нефункциональные требования: </a:t>
            </a:r>
            <a:endParaRPr lang="en-US" altLang="en-US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приложение должно быть интуитивно понятны;</a:t>
            </a: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удобный и понятный графический интерфейс;</a:t>
            </a: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дизайн должен быть современным, минималистичным;</a:t>
            </a: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целостность базы данных;</a:t>
            </a:r>
          </a:p>
          <a:p>
            <a:pPr marL="342900" indent="448056" algn="l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</a:pPr>
            <a:r>
              <a:rPr lang="ru-RU" altLang="en-US" sz="2100" dirty="0">
                <a:latin typeface="Times New Roman" panose="02020603050405020304" charset="0"/>
                <a:cs typeface="Times New Roman" panose="02020603050405020304" charset="0"/>
              </a:rPr>
              <a:t>приложение должно эффективно работать даже на устройствах с базовыми характеристиками, обеспечивая стабильность работы.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Диаграмма вариантов использования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1610E92-7612-9970-9343-6635B2F4F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" r="-601"/>
          <a:stretch/>
        </p:blipFill>
        <p:spPr>
          <a:xfrm>
            <a:off x="1043116" y="1162050"/>
            <a:ext cx="9724767" cy="54375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ER</a:t>
            </a:r>
            <a:r>
              <a:rPr lang="ru-RU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-диаграмма</a:t>
            </a:r>
            <a:endParaRPr lang="ru-RU" alt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77F4E0-B8B6-D511-2F29-ACCE1A136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7790" y="1353349"/>
            <a:ext cx="5975419" cy="52589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b="1" dirty="0">
                <a:latin typeface="Times New Roman" panose="02020603050405020304" charset="0"/>
                <a:cs typeface="Times New Roman" panose="02020603050405020304" charset="0"/>
              </a:rPr>
              <a:t>Диаграмма последовательности действий для гостя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53944" y="1871264"/>
            <a:ext cx="4484111" cy="456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Диаграмма последовательности действий для</a:t>
            </a: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пользователя</a:t>
            </a:r>
            <a:endParaRPr lang="ru-RU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63066" y="1584008"/>
            <a:ext cx="2884868" cy="526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397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A46E-8D76-C4A3-BD07-72118A20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F4D5B-F81D-1ABA-DB51-65C6E960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Физическая модель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1729F1-48D5-9D9A-FD5E-42DE0BC7F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227" y="1584008"/>
            <a:ext cx="7673546" cy="468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39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3D18A-AFBF-7262-41E7-BEDC2901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1491B-F88D-FFFF-731F-9C8CAECD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Макет главной страницы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5093AB-7B7F-B8AD-712F-5F04238B2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870" y="1279506"/>
            <a:ext cx="6976260" cy="509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50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4DAE-F4CE-165E-E556-74578BF5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FE00B-3D74-2193-CE3D-9856C36C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Макет страницы «Товары»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DD03AA-EDFF-2CC3-9FB4-8F5996DB4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7870" y="1298706"/>
            <a:ext cx="6976260" cy="50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3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B0DC4-F9D9-B19C-178A-3A6CCB57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CAE578-8A8A-15F3-F6E5-EB7D8F4D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Макет страницы «О нас»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A2B97A-9D58-1FB2-F7AB-884C11E30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757" y="1298706"/>
            <a:ext cx="6970485" cy="50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16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F2CD-5A58-E2DC-41B9-198999BF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2AE55-8E2B-6F50-1EA7-C96ECD50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Макет страницы «Контакты»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4C0057-7E19-B156-724F-59988D39B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7310" y="1298706"/>
            <a:ext cx="6917379" cy="50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12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47BF-D83A-1A3A-F701-87F2A4B1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B6691-4D78-A512-6CA2-8F790D1C7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Макет страницы «Вход»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DC3FF6-7FAF-54C8-44A2-1E867BB2A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4278" y="1298706"/>
            <a:ext cx="6823443" cy="50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00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9009-BE95-38FE-F908-1EA5644A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C7D3C-EEF1-DB41-AAEC-D74884E2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Макет страницы «Регистрация»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FD372E-DF1D-24B0-9322-EB407EB83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4278" y="1340583"/>
            <a:ext cx="6823443" cy="496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50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C9CD-7A31-B47B-E7C4-91E31D5E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E7ABA-2132-DC8C-EC87-4852032E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Макет страницы «Профиль»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3B7102-6FA9-4163-DA38-2DEF9CF29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4279" y="1346934"/>
            <a:ext cx="6823443" cy="490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74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BFAA-8965-167A-8DD1-DE381D29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68FEA-A7B4-A725-DA45-E0400010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Дизайн главной страницы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175CFB-8FFB-F17E-2FE6-DE213BEA8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7870" y="1334569"/>
            <a:ext cx="6976260" cy="498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77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9B968-D980-90FA-0C81-BFB248DC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56BAF-A67B-6FB1-B57B-46AB50D4F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Дизайн страницы «Товары»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595869-ABED-F7DD-84EF-608DF66C4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1356" y="1298706"/>
            <a:ext cx="6369287" cy="50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44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53673-BE42-B2CE-B9C2-4A1799DA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B7C21-BFAA-554B-01D0-9E0352ED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Дизайн страницы «О нас»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29C9F4-7B5D-360F-A420-F4E084674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757" y="2153941"/>
            <a:ext cx="6970485" cy="33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6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4326-8782-5ED1-4D34-D82C287A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1E28A-D00C-C6AC-DF15-0CC18525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 err="1">
                <a:latin typeface="Times New Roman" panose="02020603050405020304" charset="0"/>
                <a:cs typeface="Times New Roman" panose="02020603050405020304" charset="0"/>
              </a:rPr>
              <a:t>Дизйн</a:t>
            </a:r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 страницы «Контакты»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CE8AED-ED51-0FFC-9E8B-5599E80B8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7310" y="1941565"/>
            <a:ext cx="6917379" cy="376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9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8FC54-955D-35EC-4E12-0891C6F6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7F28B4-BE88-61B5-159E-A365A8D81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Дизайн страницы «Вход»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EA6C7D-9CBA-41C3-430A-926AA8ADA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946" y="1298706"/>
            <a:ext cx="5248107" cy="50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11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1C71-31E6-4DFA-28FB-858209D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581970-431C-E5B4-164F-DDA2D0DA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Дизайн страницы «Регистрация»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DCDE63-BADA-757A-2C1A-C933BA2DB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6945" y="1340583"/>
            <a:ext cx="3238109" cy="496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81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AC85-37CE-306A-B859-E9FE9DA3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482BD-D537-5B74-3DA0-999EBC9A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en-US" dirty="0">
                <a:latin typeface="Times New Roman" panose="02020603050405020304" charset="0"/>
                <a:cs typeface="Times New Roman" panose="02020603050405020304" charset="0"/>
              </a:rPr>
              <a:t>Дизайн страницы «Профиль»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AEB222-8EA4-8FF5-3598-C6D03F456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0667" y="1248080"/>
            <a:ext cx="4049665" cy="551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20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D0D98-24BA-4967-DC67-3450D245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0B9E8-98BE-90C8-B26A-31C7048F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5577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тестирование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675326-DE46-ACFE-C097-8C74DF3E2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890" y="2090550"/>
            <a:ext cx="6230219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47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BF77-EBBF-EDC1-88B3-89C2D6CE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CD538-53E6-AC23-63E0-4A8A6E929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5577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Системное тестирование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571B97-6B2E-FDC7-4118-3C9C495FB7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2"/>
          <a:stretch/>
        </p:blipFill>
        <p:spPr bwMode="auto">
          <a:xfrm>
            <a:off x="6150896" y="1594486"/>
            <a:ext cx="5708074" cy="34223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295D63-2B7E-27E1-0D01-57C00DFB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30" y="1594486"/>
            <a:ext cx="3940837" cy="296135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A62CCB-EE16-2348-14C5-AD5E6D5A0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867" y="1240082"/>
            <a:ext cx="3263265" cy="481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3619-6F9F-A1A2-626D-0AEC996E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5B2B1-F509-12F5-CB65-7D083580F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55777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Интеграционное тестирование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B05C09-91E6-5FC9-740C-E38DD7840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12122" y="1484330"/>
            <a:ext cx="5786755" cy="488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07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1547770"/>
          </a:xfrm>
        </p:spPr>
        <p:txBody>
          <a:bodyPr>
            <a:normAutofit/>
          </a:bodyPr>
          <a:lstStyle/>
          <a:p>
            <a:pPr indent="448056" algn="just"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разработки программного продукта было использовано среда разработки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2022 Professional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48056" algn="just"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ASP.NET 9 LTS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8056" algn="just">
              <a:lnSpc>
                <a:spcPct val="100000"/>
              </a:lnSpc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872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647700" y="1584325"/>
            <a:ext cx="10958195" cy="4686935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для магазина канцелярских товаров города X «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PaperCraft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обладает высокой актуальностью благодаря следующим факторам:</a:t>
            </a:r>
          </a:p>
          <a:p>
            <a:pPr lvl="1">
              <a:lnSpc>
                <a:spcPct val="125000"/>
              </a:lnSpc>
              <a:buFont typeface="Times New Roman" panose="02020603050405020304" pitchFamily="18" charset="0"/>
              <a:buChar char="―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росту спроса на качественные канцелярские принадлежности и товары для творчества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buFont typeface="Times New Roman" panose="02020603050405020304" pitchFamily="18" charset="0"/>
              <a:buChar char="―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удобству и доступности цифровых решений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buFont typeface="Times New Roman" panose="02020603050405020304" pitchFamily="18" charset="0"/>
              <a:buChar char="―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возможностям персонализации покупок и предложений.</a:t>
            </a:r>
          </a:p>
          <a:p>
            <a:pPr>
              <a:lnSpc>
                <a:spcPct val="125000"/>
              </a:lnSpc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проекта: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функционирующее веб-приложение, готовое для использования широкой аудиторией.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 dirty="0">
                <a:latin typeface="Times New Roman" panose="02020603050405020304" charset="0"/>
                <a:cs typeface="Times New Roman" panose="02020603050405020304" charset="0"/>
              </a:rPr>
              <a:t>Заключение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AFD23-27DE-CD7C-D99D-D3B698EF8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мещающее содержимое 4">
            <a:extLst>
              <a:ext uri="{FF2B5EF4-FFF2-40B4-BE49-F238E27FC236}">
                <a16:creationId xmlns:a16="http://schemas.microsoft.com/office/drawing/2014/main" id="{2301100C-2ACE-BB8C-0BCE-9A3E5C7F4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584325"/>
            <a:ext cx="10958195" cy="4686935"/>
          </a:xfrm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Перспективы:</a:t>
            </a:r>
            <a:b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 веб-приложения для магазина канцелярских товаров города X «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PaperCraft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включают:</a:t>
            </a:r>
          </a:p>
          <a:p>
            <a:pPr lvl="1">
              <a:lnSpc>
                <a:spcPct val="125000"/>
              </a:lnSpc>
              <a:buFont typeface="Times New Roman" panose="02020603050405020304" pitchFamily="18" charset="0"/>
              <a:buChar char="―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ассортимента и категорий товаров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buFont typeface="Times New Roman" panose="02020603050405020304" pitchFamily="18" charset="0"/>
              <a:buChar char="―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современных технологий персонализации и рекомендаций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5000"/>
              </a:lnSpc>
              <a:buFont typeface="Times New Roman" panose="02020603050405020304" pitchFamily="18" charset="0"/>
              <a:buChar char="―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дополнительных цифровых сервисов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>
              <a:lnSpc>
                <a:spcPct val="125000"/>
              </a:lnSpc>
              <a:buFont typeface="Times New Roman" panose="02020603050405020304" pitchFamily="18" charset="0"/>
              <a:buChar char="―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работы на мобильных устройствах;</a:t>
            </a:r>
          </a:p>
          <a:p>
            <a:pPr lvl="1">
              <a:lnSpc>
                <a:spcPct val="125000"/>
              </a:lnSpc>
              <a:buFont typeface="Times New Roman" panose="02020603050405020304" pitchFamily="18" charset="0"/>
              <a:buChar char="―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доставки и логистических сервисов.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D4EE29D-C8A4-4AFE-2121-19DE0B744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b="1" dirty="0">
                <a:latin typeface="Times New Roman" panose="02020603050405020304" charset="0"/>
                <a:cs typeface="Times New Roman" panose="02020603050405020304" charset="0"/>
              </a:rPr>
              <a:t>Перспективы</a:t>
            </a:r>
          </a:p>
        </p:txBody>
      </p:sp>
    </p:spTree>
    <p:extLst>
      <p:ext uri="{BB962C8B-B14F-4D97-AF65-F5344CB8AC3E}">
        <p14:creationId xmlns:p14="http://schemas.microsoft.com/office/powerpoint/2010/main" val="3197606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412811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19782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540</Words>
  <Application>Microsoft Office PowerPoint</Application>
  <PresentationFormat>Широкоэкранный</PresentationFormat>
  <Paragraphs>84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微软雅黑</vt:lpstr>
      <vt:lpstr>Arial</vt:lpstr>
      <vt:lpstr>Calibri</vt:lpstr>
      <vt:lpstr>Calibri Light</vt:lpstr>
      <vt:lpstr>Times New Roman</vt:lpstr>
      <vt:lpstr>Office Theme</vt:lpstr>
      <vt:lpstr>Презентация PowerPoint</vt:lpstr>
      <vt:lpstr>Цели</vt:lpstr>
      <vt:lpstr>Задачи </vt:lpstr>
      <vt:lpstr>Актуальность проекта</vt:lpstr>
      <vt:lpstr>Функциональные и нефункциональные требования</vt:lpstr>
      <vt:lpstr>Диаграмма вариантов использования</vt:lpstr>
      <vt:lpstr>ER-диаграмма</vt:lpstr>
      <vt:lpstr>Диаграмма последовательности действий для гостя</vt:lpstr>
      <vt:lpstr>Диаграмма последовательности действий для пользователя</vt:lpstr>
      <vt:lpstr>Физическая модель</vt:lpstr>
      <vt:lpstr>Макет главной страницы</vt:lpstr>
      <vt:lpstr>Макет страницы «Товары»</vt:lpstr>
      <vt:lpstr>Макет страницы «О нас»</vt:lpstr>
      <vt:lpstr>Макет страницы «Контакты»</vt:lpstr>
      <vt:lpstr>Макет страницы «Вход»</vt:lpstr>
      <vt:lpstr>Макет страницы «Регистрация»</vt:lpstr>
      <vt:lpstr>Макет страницы «Профиль»</vt:lpstr>
      <vt:lpstr>Дизайн главной страницы</vt:lpstr>
      <vt:lpstr>Дизайн страницы «Товары»</vt:lpstr>
      <vt:lpstr>Дизайн страницы «О нас»</vt:lpstr>
      <vt:lpstr>Дизйн страницы «Контакты»</vt:lpstr>
      <vt:lpstr>Дизайн страницы «Вход»</vt:lpstr>
      <vt:lpstr>Дизайн страницы «Регистрация»</vt:lpstr>
      <vt:lpstr>Дизайн страницы «Профиль»</vt:lpstr>
      <vt:lpstr>Модульное тестирование</vt:lpstr>
      <vt:lpstr>Системное тестирование</vt:lpstr>
      <vt:lpstr>Интеграционное тестирование</vt:lpstr>
      <vt:lpstr>Программное обеспечение</vt:lpstr>
      <vt:lpstr>Заключение</vt:lpstr>
      <vt:lpstr>Перспективы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Шиндин Даниил</dc:creator>
  <cp:lastModifiedBy>Даниил Шиндин</cp:lastModifiedBy>
  <cp:revision>89</cp:revision>
  <dcterms:created xsi:type="dcterms:W3CDTF">2023-05-24T14:50:00Z</dcterms:created>
  <dcterms:modified xsi:type="dcterms:W3CDTF">2025-05-26T19:08:36Z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B4434B6E80C44251AE143B7EDF3A2D1F</vt:lpwstr>
  </property>
</Properties>
</file>